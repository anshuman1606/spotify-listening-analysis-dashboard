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6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722"/>
    <a:srgbClr val="034329"/>
    <a:srgbClr val="04643D"/>
    <a:srgbClr val="07B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6D77-E087-49B0-8F15-7C6F25930B2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B35FF-A7DD-4BEA-B68C-2EC7FFFF183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5" y="0"/>
            <a:ext cx="10858490" cy="71826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902" y="0"/>
            <a:ext cx="10862195" cy="7182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5" name="TextBox 2"/>
          <p:cNvSpPr txBox="1"/>
          <p:nvPr/>
        </p:nvSpPr>
        <p:spPr>
          <a:xfrm>
            <a:off x="371473" y="105173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  <a:endParaRPr lang="en-IN" sz="2800" b="1" dirty="0">
              <a:solidFill>
                <a:schemeClr val="accent4">
                  <a:lumMod val="60000"/>
                  <a:lumOff val="40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592335" y="16351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90204" pitchFamily="34" charset="0"/>
              </a:rPr>
              <a:t>Requirement Gathering/ Business Requirements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90204" pitchFamily="34" charset="0"/>
              </a:rPr>
              <a:t>Data Walkthrough</a:t>
            </a:r>
            <a:endParaRPr lang="en-US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90204" pitchFamily="34" charset="0"/>
              </a:rPr>
              <a:t>Data Connection</a:t>
            </a:r>
            <a:endParaRPr lang="en-US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90204" pitchFamily="34" charset="0"/>
              </a:rPr>
              <a:t>Data Cleaning / Quality Check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90204" pitchFamily="34" charset="0"/>
              </a:rPr>
              <a:t>Data Modeling</a:t>
            </a:r>
            <a:endParaRPr lang="en-US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90204" pitchFamily="34" charset="0"/>
              </a:rPr>
              <a:t>Data Processing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90204" pitchFamily="34" charset="0"/>
              </a:rPr>
              <a:t>DAX Calculations</a:t>
            </a:r>
            <a:endParaRPr lang="en-US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90204" pitchFamily="34" charset="0"/>
              </a:rPr>
              <a:t>Dashboard Lay outing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90204" pitchFamily="34" charset="0"/>
              </a:rPr>
              <a:t>Charts Development and Formatting</a:t>
            </a:r>
            <a:endParaRPr lang="en-US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90204" pitchFamily="34" charset="0"/>
              </a:rPr>
              <a:t>Dashboard / Report Development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9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90204" pitchFamily="34" charset="0"/>
              </a:rPr>
              <a:t>Insights Generation</a:t>
            </a:r>
            <a:endParaRPr lang="en-US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90204" pitchFamily="34" charset="0"/>
            </a:endParaRPr>
          </a:p>
        </p:txBody>
      </p:sp>
      <p:pic>
        <p:nvPicPr>
          <p:cNvPr id="19" name="Picture 4" descr="Power BI - Udemy Business"/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49" y="6302081"/>
            <a:ext cx="860309" cy="6208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/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/>
          <p:cNvSpPr txBox="1"/>
          <p:nvPr/>
        </p:nvSpPr>
        <p:spPr>
          <a:xfrm>
            <a:off x="371473" y="90995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2800" b="1" dirty="0">
              <a:solidFill>
                <a:schemeClr val="bg1"/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0524" y="1493258"/>
            <a:ext cx="11296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 today’s digital music era, understanding listening patterns is crucial for both users and streaming platforms. This analysis focuses on Spotify Albums Data, providing insights into user engagement with albums over time.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0524" y="272209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Total Albums Played Over 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Track how album listening trends change over months and years.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 of Albums Listened by Year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annual listening habits and volume (Find the Min and Max Albums in the view).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Albums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Top 5 Albums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the most played albums based on listening frequency.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Compare album consumption between the latest and previous years, including: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YoY (Year-over-Year) Growth Analysis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390524" y="2326206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ALBUMS</a:t>
            </a:r>
            <a:endParaRPr lang="en-IN" sz="2800" b="1" dirty="0">
              <a:solidFill>
                <a:srgbClr val="00B0F0"/>
              </a:solidFill>
              <a:latin typeface="Algerian" panose="04020705040A02060702" pitchFamily="82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/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/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2800" b="1" dirty="0">
              <a:solidFill>
                <a:schemeClr val="bg1"/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Total Artists Played Over Time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Track how artist listening trends evolve across months and years.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Number of Artists Listened by Year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artist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Artists in the view).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Artists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Top 5 Artists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– Identify the most played artists based on listening frequency.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artist engagement between the latest and previous years, including: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YoY (Year-over-Year) Growth Analysis</a:t>
            </a:r>
            <a:endParaRPr lang="en-US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ARTISTS</a:t>
            </a:r>
            <a:endParaRPr lang="en-IN" sz="2800" b="1" dirty="0">
              <a:solidFill>
                <a:srgbClr val="00B0F0"/>
              </a:solidFill>
              <a:latin typeface="Algerian" panose="04020705040A02060702" pitchFamily="82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/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/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2800" b="1" dirty="0">
              <a:solidFill>
                <a:schemeClr val="bg1"/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Tracks Played Over Time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Monitor how track listening trends change across months and years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Tracks Listened by Year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track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Tracks in the view).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 5 Tracks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the most played tracks based on listening frequency.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track engagement between the latest and previous years, including: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YoY (Year-over-Year) Growth Analysis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TRACKS</a:t>
            </a:r>
            <a:endParaRPr lang="en-IN" sz="2800" b="1" dirty="0">
              <a:solidFill>
                <a:srgbClr val="00B0F0"/>
              </a:solidFill>
              <a:latin typeface="Algerian" panose="04020705040A02060702" pitchFamily="82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/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/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2800" b="1" dirty="0">
              <a:solidFill>
                <a:schemeClr val="bg1"/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/>
          <p:cNvSpPr txBox="1"/>
          <p:nvPr/>
        </p:nvSpPr>
        <p:spPr>
          <a:xfrm>
            <a:off x="390523" y="1657245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LISTENING PATTERNS</a:t>
            </a:r>
            <a:endParaRPr lang="en-IN" sz="2800" b="1" dirty="0">
              <a:solidFill>
                <a:srgbClr val="FFFF00"/>
              </a:solidFill>
              <a:latin typeface="Algerian" panose="04020705040A02060702" pitchFamily="82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0523" y="2285789"/>
            <a:ext cx="1143000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🕒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Listening Hours Analysis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Identify peak listening times using a </a:t>
            </a:r>
            <a:r>
              <a:rPr lang="en-US" sz="2000" b="1" dirty="0">
                <a:solidFill>
                  <a:schemeClr val="bg1"/>
                </a:solidFill>
              </a:rPr>
              <a:t>Heat Map</a:t>
            </a:r>
            <a:r>
              <a:rPr lang="en-US" sz="2000" dirty="0">
                <a:solidFill>
                  <a:schemeClr val="bg1"/>
                </a:solidFill>
              </a:rPr>
              <a:t> that visualizes patterns across hours and days with color intensity.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📊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Average Listening Time (min) vs Track Frequency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Use a </a:t>
            </a:r>
            <a:r>
              <a:rPr lang="en-US" sz="2000" b="1" dirty="0">
                <a:solidFill>
                  <a:schemeClr val="bg1"/>
                </a:solidFill>
              </a:rPr>
              <a:t>Scatter Plot with Quadrant Analysis</a:t>
            </a:r>
            <a:r>
              <a:rPr lang="en-US" sz="2000" dirty="0">
                <a:solidFill>
                  <a:schemeClr val="bg1"/>
                </a:solidFill>
              </a:rPr>
              <a:t> to categorize tracks based on: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Most engaging tracks 🎯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Niche but impactful tracks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Short &amp; frequently played tracks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Less popular tracks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2975</Words>
  <Application>WPS Presentation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Arial Rounded MT Bold</vt:lpstr>
      <vt:lpstr>Segoe UI Black</vt:lpstr>
      <vt:lpstr>苹方-简</vt:lpstr>
      <vt:lpstr>Algerian</vt:lpstr>
      <vt:lpstr>Calibri</vt:lpstr>
      <vt:lpstr>Helvetica Neue</vt:lpstr>
      <vt:lpstr>Microsoft YaHei</vt:lpstr>
      <vt:lpstr>汉仪旗黑</vt:lpstr>
      <vt:lpstr>Arial Unicode MS</vt:lpstr>
      <vt:lpstr>Calibri Light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Alfa Hunt</cp:lastModifiedBy>
  <cp:revision>17</cp:revision>
  <dcterms:created xsi:type="dcterms:W3CDTF">2026-06-30T07:43:42Z</dcterms:created>
  <dcterms:modified xsi:type="dcterms:W3CDTF">2026-06-30T07:43:42Z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D5E8D6C078599694AE73436A0C3DC4AD_42</vt:lpwstr>
  </property>
  <property fmtid="{D5CDD505-2E9C-101B-9397-08002B2CF9AE}" pid="3" name="KSOProductBuildVer">
    <vt:lpwstr>1033-12.1.25880.25880</vt:lpwstr>
  </property>
</Properties>
</file>